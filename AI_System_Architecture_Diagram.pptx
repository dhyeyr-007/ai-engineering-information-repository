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0"/>
  </p:notesMasterIdLst>
  <p:sldIdLst>
    <p:sldId id="256" r:id="rId2"/>
    <p:sldId id="264" r:id="rId3"/>
    <p:sldId id="257" r:id="rId4"/>
    <p:sldId id="258" r:id="rId5"/>
    <p:sldId id="259" r:id="rId6"/>
    <p:sldId id="260" r:id="rId7"/>
    <p:sldId id="261" r:id="rId8"/>
    <p:sldId id="262" r:id="rId9"/>
  </p:sldIdLst>
  <p:sldSz cx="18000663" cy="10799763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50" d="100"/>
          <a:sy n="150" d="100"/>
        </p:scale>
        <p:origin x="-366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0240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382390" rtl="0" eaLnBrk="1" latinLnBrk="0" hangingPunct="1">
      <a:defRPr sz="1814" kern="1200">
        <a:solidFill>
          <a:schemeClr val="tx1"/>
        </a:solidFill>
        <a:latin typeface="+mn-lt"/>
        <a:ea typeface="+mn-ea"/>
        <a:cs typeface="+mn-cs"/>
      </a:defRPr>
    </a:lvl1pPr>
    <a:lvl2pPr marL="691195" algn="l" defTabSz="1382390" rtl="0" eaLnBrk="1" latinLnBrk="0" hangingPunct="1">
      <a:defRPr sz="1814" kern="1200">
        <a:solidFill>
          <a:schemeClr val="tx1"/>
        </a:solidFill>
        <a:latin typeface="+mn-lt"/>
        <a:ea typeface="+mn-ea"/>
        <a:cs typeface="+mn-cs"/>
      </a:defRPr>
    </a:lvl2pPr>
    <a:lvl3pPr marL="1382390" algn="l" defTabSz="1382390" rtl="0" eaLnBrk="1" latinLnBrk="0" hangingPunct="1">
      <a:defRPr sz="1814" kern="1200">
        <a:solidFill>
          <a:schemeClr val="tx1"/>
        </a:solidFill>
        <a:latin typeface="+mn-lt"/>
        <a:ea typeface="+mn-ea"/>
        <a:cs typeface="+mn-cs"/>
      </a:defRPr>
    </a:lvl3pPr>
    <a:lvl4pPr marL="2073585" algn="l" defTabSz="1382390" rtl="0" eaLnBrk="1" latinLnBrk="0" hangingPunct="1">
      <a:defRPr sz="1814" kern="1200">
        <a:solidFill>
          <a:schemeClr val="tx1"/>
        </a:solidFill>
        <a:latin typeface="+mn-lt"/>
        <a:ea typeface="+mn-ea"/>
        <a:cs typeface="+mn-cs"/>
      </a:defRPr>
    </a:lvl4pPr>
    <a:lvl5pPr marL="2764780" algn="l" defTabSz="1382390" rtl="0" eaLnBrk="1" latinLnBrk="0" hangingPunct="1">
      <a:defRPr sz="1814" kern="1200">
        <a:solidFill>
          <a:schemeClr val="tx1"/>
        </a:solidFill>
        <a:latin typeface="+mn-lt"/>
        <a:ea typeface="+mn-ea"/>
        <a:cs typeface="+mn-cs"/>
      </a:defRPr>
    </a:lvl5pPr>
    <a:lvl6pPr marL="3455975" algn="l" defTabSz="1382390" rtl="0" eaLnBrk="1" latinLnBrk="0" hangingPunct="1">
      <a:defRPr sz="1814" kern="1200">
        <a:solidFill>
          <a:schemeClr val="tx1"/>
        </a:solidFill>
        <a:latin typeface="+mn-lt"/>
        <a:ea typeface="+mn-ea"/>
        <a:cs typeface="+mn-cs"/>
      </a:defRPr>
    </a:lvl6pPr>
    <a:lvl7pPr marL="4147170" algn="l" defTabSz="1382390" rtl="0" eaLnBrk="1" latinLnBrk="0" hangingPunct="1">
      <a:defRPr sz="1814" kern="1200">
        <a:solidFill>
          <a:schemeClr val="tx1"/>
        </a:solidFill>
        <a:latin typeface="+mn-lt"/>
        <a:ea typeface="+mn-ea"/>
        <a:cs typeface="+mn-cs"/>
      </a:defRPr>
    </a:lvl7pPr>
    <a:lvl8pPr marL="4838365" algn="l" defTabSz="1382390" rtl="0" eaLnBrk="1" latinLnBrk="0" hangingPunct="1">
      <a:defRPr sz="1814" kern="1200">
        <a:solidFill>
          <a:schemeClr val="tx1"/>
        </a:solidFill>
        <a:latin typeface="+mn-lt"/>
        <a:ea typeface="+mn-ea"/>
        <a:cs typeface="+mn-cs"/>
      </a:defRPr>
    </a:lvl8pPr>
    <a:lvl9pPr marL="5529560" algn="l" defTabSz="1382390" rtl="0" eaLnBrk="1" latinLnBrk="0" hangingPunct="1">
      <a:defRPr sz="181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B41F8D-035F-238C-4E16-D305D36C6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635919-B5A0-F049-E38D-750BA2EEC4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5975FD-5BC7-1E4A-693B-8FF673FB86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D18732-62FB-3551-76B0-D5F2B5443D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5415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50083" y="1767462"/>
            <a:ext cx="13500497" cy="3759917"/>
          </a:xfrm>
        </p:spPr>
        <p:txBody>
          <a:bodyPr anchor="b"/>
          <a:lstStyle>
            <a:lvl1pPr algn="ctr">
              <a:defRPr sz="885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50083" y="5672376"/>
            <a:ext cx="13500497" cy="2607442"/>
          </a:xfrm>
        </p:spPr>
        <p:txBody>
          <a:bodyPr/>
          <a:lstStyle>
            <a:lvl1pPr marL="0" indent="0" algn="ctr">
              <a:buNone/>
              <a:defRPr sz="3543"/>
            </a:lvl1pPr>
            <a:lvl2pPr marL="675010" indent="0" algn="ctr">
              <a:buNone/>
              <a:defRPr sz="2953"/>
            </a:lvl2pPr>
            <a:lvl3pPr marL="1350020" indent="0" algn="ctr">
              <a:buNone/>
              <a:defRPr sz="2658"/>
            </a:lvl3pPr>
            <a:lvl4pPr marL="2025030" indent="0" algn="ctr">
              <a:buNone/>
              <a:defRPr sz="2362"/>
            </a:lvl4pPr>
            <a:lvl5pPr marL="2700040" indent="0" algn="ctr">
              <a:buNone/>
              <a:defRPr sz="2362"/>
            </a:lvl5pPr>
            <a:lvl6pPr marL="3375050" indent="0" algn="ctr">
              <a:buNone/>
              <a:defRPr sz="2362"/>
            </a:lvl6pPr>
            <a:lvl7pPr marL="4050060" indent="0" algn="ctr">
              <a:buNone/>
              <a:defRPr sz="2362"/>
            </a:lvl7pPr>
            <a:lvl8pPr marL="4725071" indent="0" algn="ctr">
              <a:buNone/>
              <a:defRPr sz="2362"/>
            </a:lvl8pPr>
            <a:lvl9pPr marL="5400081" indent="0" algn="ctr">
              <a:buNone/>
              <a:defRPr sz="2362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419060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791259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170" y="2692442"/>
            <a:ext cx="15525572" cy="4492401"/>
          </a:xfrm>
        </p:spPr>
        <p:txBody>
          <a:bodyPr anchor="b"/>
          <a:lstStyle>
            <a:lvl1pPr>
              <a:defRPr sz="885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8170" y="7227343"/>
            <a:ext cx="15525572" cy="2362447"/>
          </a:xfrm>
        </p:spPr>
        <p:txBody>
          <a:bodyPr/>
          <a:lstStyle>
            <a:lvl1pPr marL="0" indent="0">
              <a:buNone/>
              <a:defRPr sz="3543">
                <a:solidFill>
                  <a:schemeClr val="tx1">
                    <a:tint val="75000"/>
                  </a:schemeClr>
                </a:solidFill>
              </a:defRPr>
            </a:lvl1pPr>
            <a:lvl2pPr marL="675010" indent="0">
              <a:buNone/>
              <a:defRPr sz="2953">
                <a:solidFill>
                  <a:schemeClr val="tx1">
                    <a:tint val="75000"/>
                  </a:schemeClr>
                </a:solidFill>
              </a:defRPr>
            </a:lvl2pPr>
            <a:lvl3pPr marL="1350020" indent="0">
              <a:buNone/>
              <a:defRPr sz="2658">
                <a:solidFill>
                  <a:schemeClr val="tx1">
                    <a:tint val="75000"/>
                  </a:schemeClr>
                </a:solidFill>
              </a:defRPr>
            </a:lvl3pPr>
            <a:lvl4pPr marL="2025030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4pPr>
            <a:lvl5pPr marL="2700040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5pPr>
            <a:lvl6pPr marL="3375050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6pPr>
            <a:lvl7pPr marL="4050060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7pPr>
            <a:lvl8pPr marL="4725071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8pPr>
            <a:lvl9pPr marL="5400081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858859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7545" y="2874937"/>
            <a:ext cx="7650282" cy="6852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12836" y="2874937"/>
            <a:ext cx="7650282" cy="6852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458545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574988"/>
            <a:ext cx="15525572" cy="208745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9891" y="2647443"/>
            <a:ext cx="7615123" cy="1297471"/>
          </a:xfrm>
        </p:spPr>
        <p:txBody>
          <a:bodyPr anchor="b"/>
          <a:lstStyle>
            <a:lvl1pPr marL="0" indent="0">
              <a:buNone/>
              <a:defRPr sz="3543" b="1"/>
            </a:lvl1pPr>
            <a:lvl2pPr marL="675010" indent="0">
              <a:buNone/>
              <a:defRPr sz="2953" b="1"/>
            </a:lvl2pPr>
            <a:lvl3pPr marL="1350020" indent="0">
              <a:buNone/>
              <a:defRPr sz="2658" b="1"/>
            </a:lvl3pPr>
            <a:lvl4pPr marL="2025030" indent="0">
              <a:buNone/>
              <a:defRPr sz="2362" b="1"/>
            </a:lvl4pPr>
            <a:lvl5pPr marL="2700040" indent="0">
              <a:buNone/>
              <a:defRPr sz="2362" b="1"/>
            </a:lvl5pPr>
            <a:lvl6pPr marL="3375050" indent="0">
              <a:buNone/>
              <a:defRPr sz="2362" b="1"/>
            </a:lvl6pPr>
            <a:lvl7pPr marL="4050060" indent="0">
              <a:buNone/>
              <a:defRPr sz="2362" b="1"/>
            </a:lvl7pPr>
            <a:lvl8pPr marL="4725071" indent="0">
              <a:buNone/>
              <a:defRPr sz="2362" b="1"/>
            </a:lvl8pPr>
            <a:lvl9pPr marL="5400081" indent="0">
              <a:buNone/>
              <a:defRPr sz="236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9891" y="3944914"/>
            <a:ext cx="7615123" cy="58023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112836" y="2647443"/>
            <a:ext cx="7652626" cy="1297471"/>
          </a:xfrm>
        </p:spPr>
        <p:txBody>
          <a:bodyPr anchor="b"/>
          <a:lstStyle>
            <a:lvl1pPr marL="0" indent="0">
              <a:buNone/>
              <a:defRPr sz="3543" b="1"/>
            </a:lvl1pPr>
            <a:lvl2pPr marL="675010" indent="0">
              <a:buNone/>
              <a:defRPr sz="2953" b="1"/>
            </a:lvl2pPr>
            <a:lvl3pPr marL="1350020" indent="0">
              <a:buNone/>
              <a:defRPr sz="2658" b="1"/>
            </a:lvl3pPr>
            <a:lvl4pPr marL="2025030" indent="0">
              <a:buNone/>
              <a:defRPr sz="2362" b="1"/>
            </a:lvl4pPr>
            <a:lvl5pPr marL="2700040" indent="0">
              <a:buNone/>
              <a:defRPr sz="2362" b="1"/>
            </a:lvl5pPr>
            <a:lvl6pPr marL="3375050" indent="0">
              <a:buNone/>
              <a:defRPr sz="2362" b="1"/>
            </a:lvl6pPr>
            <a:lvl7pPr marL="4050060" indent="0">
              <a:buNone/>
              <a:defRPr sz="2362" b="1"/>
            </a:lvl7pPr>
            <a:lvl8pPr marL="4725071" indent="0">
              <a:buNone/>
              <a:defRPr sz="2362" b="1"/>
            </a:lvl8pPr>
            <a:lvl9pPr marL="5400081" indent="0">
              <a:buNone/>
              <a:defRPr sz="236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112836" y="3944914"/>
            <a:ext cx="7652626" cy="58023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897023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76242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30580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1" y="719984"/>
            <a:ext cx="5805682" cy="2519945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2626" y="1554966"/>
            <a:ext cx="9112836" cy="7674832"/>
          </a:xfrm>
        </p:spPr>
        <p:txBody>
          <a:bodyPr/>
          <a:lstStyle>
            <a:lvl1pPr>
              <a:defRPr sz="4724"/>
            </a:lvl1pPr>
            <a:lvl2pPr>
              <a:defRPr sz="4134"/>
            </a:lvl2pPr>
            <a:lvl3pPr>
              <a:defRPr sz="3543"/>
            </a:lvl3pPr>
            <a:lvl4pPr>
              <a:defRPr sz="2953"/>
            </a:lvl4pPr>
            <a:lvl5pPr>
              <a:defRPr sz="2953"/>
            </a:lvl5pPr>
            <a:lvl6pPr>
              <a:defRPr sz="2953"/>
            </a:lvl6pPr>
            <a:lvl7pPr>
              <a:defRPr sz="2953"/>
            </a:lvl7pPr>
            <a:lvl8pPr>
              <a:defRPr sz="2953"/>
            </a:lvl8pPr>
            <a:lvl9pPr>
              <a:defRPr sz="295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1" y="3239929"/>
            <a:ext cx="5805682" cy="6002369"/>
          </a:xfrm>
        </p:spPr>
        <p:txBody>
          <a:bodyPr/>
          <a:lstStyle>
            <a:lvl1pPr marL="0" indent="0">
              <a:buNone/>
              <a:defRPr sz="2362"/>
            </a:lvl1pPr>
            <a:lvl2pPr marL="675010" indent="0">
              <a:buNone/>
              <a:defRPr sz="2067"/>
            </a:lvl2pPr>
            <a:lvl3pPr marL="1350020" indent="0">
              <a:buNone/>
              <a:defRPr sz="1772"/>
            </a:lvl3pPr>
            <a:lvl4pPr marL="2025030" indent="0">
              <a:buNone/>
              <a:defRPr sz="1476"/>
            </a:lvl4pPr>
            <a:lvl5pPr marL="2700040" indent="0">
              <a:buNone/>
              <a:defRPr sz="1476"/>
            </a:lvl5pPr>
            <a:lvl6pPr marL="3375050" indent="0">
              <a:buNone/>
              <a:defRPr sz="1476"/>
            </a:lvl6pPr>
            <a:lvl7pPr marL="4050060" indent="0">
              <a:buNone/>
              <a:defRPr sz="1476"/>
            </a:lvl7pPr>
            <a:lvl8pPr marL="4725071" indent="0">
              <a:buNone/>
              <a:defRPr sz="1476"/>
            </a:lvl8pPr>
            <a:lvl9pPr marL="5400081" indent="0">
              <a:buNone/>
              <a:defRPr sz="147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236787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1" y="719984"/>
            <a:ext cx="5805682" cy="2519945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652626" y="1554966"/>
            <a:ext cx="9112836" cy="7674832"/>
          </a:xfrm>
        </p:spPr>
        <p:txBody>
          <a:bodyPr anchor="t"/>
          <a:lstStyle>
            <a:lvl1pPr marL="0" indent="0">
              <a:buNone/>
              <a:defRPr sz="4724"/>
            </a:lvl1pPr>
            <a:lvl2pPr marL="675010" indent="0">
              <a:buNone/>
              <a:defRPr sz="4134"/>
            </a:lvl2pPr>
            <a:lvl3pPr marL="1350020" indent="0">
              <a:buNone/>
              <a:defRPr sz="3543"/>
            </a:lvl3pPr>
            <a:lvl4pPr marL="2025030" indent="0">
              <a:buNone/>
              <a:defRPr sz="2953"/>
            </a:lvl4pPr>
            <a:lvl5pPr marL="2700040" indent="0">
              <a:buNone/>
              <a:defRPr sz="2953"/>
            </a:lvl5pPr>
            <a:lvl6pPr marL="3375050" indent="0">
              <a:buNone/>
              <a:defRPr sz="2953"/>
            </a:lvl6pPr>
            <a:lvl7pPr marL="4050060" indent="0">
              <a:buNone/>
              <a:defRPr sz="2953"/>
            </a:lvl7pPr>
            <a:lvl8pPr marL="4725071" indent="0">
              <a:buNone/>
              <a:defRPr sz="2953"/>
            </a:lvl8pPr>
            <a:lvl9pPr marL="5400081" indent="0">
              <a:buNone/>
              <a:defRPr sz="295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1" y="3239929"/>
            <a:ext cx="5805682" cy="6002369"/>
          </a:xfrm>
        </p:spPr>
        <p:txBody>
          <a:bodyPr/>
          <a:lstStyle>
            <a:lvl1pPr marL="0" indent="0">
              <a:buNone/>
              <a:defRPr sz="2362"/>
            </a:lvl1pPr>
            <a:lvl2pPr marL="675010" indent="0">
              <a:buNone/>
              <a:defRPr sz="2067"/>
            </a:lvl2pPr>
            <a:lvl3pPr marL="1350020" indent="0">
              <a:buNone/>
              <a:defRPr sz="1772"/>
            </a:lvl3pPr>
            <a:lvl4pPr marL="2025030" indent="0">
              <a:buNone/>
              <a:defRPr sz="1476"/>
            </a:lvl4pPr>
            <a:lvl5pPr marL="2700040" indent="0">
              <a:buNone/>
              <a:defRPr sz="1476"/>
            </a:lvl5pPr>
            <a:lvl6pPr marL="3375050" indent="0">
              <a:buNone/>
              <a:defRPr sz="1476"/>
            </a:lvl6pPr>
            <a:lvl7pPr marL="4050060" indent="0">
              <a:buNone/>
              <a:defRPr sz="1476"/>
            </a:lvl7pPr>
            <a:lvl8pPr marL="4725071" indent="0">
              <a:buNone/>
              <a:defRPr sz="1476"/>
            </a:lvl8pPr>
            <a:lvl9pPr marL="5400081" indent="0">
              <a:buNone/>
              <a:defRPr sz="147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530223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005652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881724" y="574987"/>
            <a:ext cx="3881393" cy="91523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37545" y="574987"/>
            <a:ext cx="11419171" cy="91523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277856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1832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37546" y="574988"/>
            <a:ext cx="15525572" cy="2087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7546" y="2874937"/>
            <a:ext cx="15525572" cy="6852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37546" y="10009781"/>
            <a:ext cx="4050149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7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8/16/2026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62720" y="10009781"/>
            <a:ext cx="6075224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7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712968" y="10009781"/>
            <a:ext cx="4050149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7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6076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1350020" rtl="0" eaLnBrk="1" latinLnBrk="0" hangingPunct="1">
        <a:lnSpc>
          <a:spcPct val="90000"/>
        </a:lnSpc>
        <a:spcBef>
          <a:spcPct val="0"/>
        </a:spcBef>
        <a:buNone/>
        <a:defRPr sz="649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7505" indent="-337505" algn="l" defTabSz="1350020" rtl="0" eaLnBrk="1" latinLnBrk="0" hangingPunct="1">
        <a:lnSpc>
          <a:spcPct val="90000"/>
        </a:lnSpc>
        <a:spcBef>
          <a:spcPts val="1476"/>
        </a:spcBef>
        <a:buFont typeface="Arial" panose="020B0604020202020204" pitchFamily="34" charset="0"/>
        <a:buChar char="•"/>
        <a:defRPr sz="4134" kern="1200">
          <a:solidFill>
            <a:schemeClr val="tx1"/>
          </a:solidFill>
          <a:latin typeface="+mn-lt"/>
          <a:ea typeface="+mn-ea"/>
          <a:cs typeface="+mn-cs"/>
        </a:defRPr>
      </a:lvl1pPr>
      <a:lvl2pPr marL="1012515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2pPr>
      <a:lvl3pPr marL="1687525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953" kern="1200">
          <a:solidFill>
            <a:schemeClr val="tx1"/>
          </a:solidFill>
          <a:latin typeface="+mn-lt"/>
          <a:ea typeface="+mn-ea"/>
          <a:cs typeface="+mn-cs"/>
        </a:defRPr>
      </a:lvl3pPr>
      <a:lvl4pPr marL="2362535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4pPr>
      <a:lvl5pPr marL="3037545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5pPr>
      <a:lvl6pPr marL="3712555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6pPr>
      <a:lvl7pPr marL="4387566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7pPr>
      <a:lvl8pPr marL="5062576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8pPr>
      <a:lvl9pPr marL="5737586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1pPr>
      <a:lvl2pPr marL="67501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2pPr>
      <a:lvl3pPr marL="135002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3pPr>
      <a:lvl4pPr marL="202503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4pPr>
      <a:lvl5pPr marL="270004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5pPr>
      <a:lvl6pPr marL="337505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6pPr>
      <a:lvl7pPr marL="405006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7pPr>
      <a:lvl8pPr marL="4725071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8pPr>
      <a:lvl9pPr marL="5400081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35851" y="3068161"/>
            <a:ext cx="106984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ct val="110000"/>
              </a:lnSpc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engineering</a:t>
            </a:r>
            <a:endParaRPr lang="en-US" sz="4400" dirty="0"/>
          </a:p>
          <a:p>
            <a:pPr algn="ctr">
              <a:lnSpc>
                <a:spcPct val="110000"/>
              </a:lnSpc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2A4602-A05D-29ED-C7C8-ADCD70D0E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8BD78B1-F92D-B9DC-6EEC-4DC3E50B6D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7407" y="-1"/>
            <a:ext cx="6911848" cy="10799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855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75405" y="931336"/>
            <a:ext cx="4939456" cy="40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system flow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2776616" y="1440636"/>
            <a:ext cx="3161252" cy="560230"/>
          </a:xfrm>
          <a:prstGeom prst="roundRect">
            <a:avLst>
              <a:gd name="adj" fmla="val 18182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875405" y="1338776"/>
            <a:ext cx="790313" cy="203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0" b="1" dirty="0">
                <a:solidFill>
                  <a:srgbClr val="6B7280"/>
                </a:solidFill>
              </a:rPr>
              <a:t>OFFLINE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2974194" y="1542496"/>
            <a:ext cx="2766095" cy="356510"/>
          </a:xfrm>
          <a:prstGeom prst="roundRect">
            <a:avLst>
              <a:gd name="adj" fmla="val 34286"/>
            </a:avLst>
          </a:prstGeom>
          <a:solidFill>
            <a:srgbClr val="064E3B"/>
          </a:solidFill>
          <a:ln w="1524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974194" y="1593425"/>
            <a:ext cx="2766095" cy="178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Fine-tuning (LoRA / QLoRA)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974194" y="1692230"/>
            <a:ext cx="2766095" cy="19608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algn="ctr"/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customise model before deployment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222126" y="1440636"/>
            <a:ext cx="2173361" cy="407440"/>
          </a:xfrm>
          <a:prstGeom prst="roundRect">
            <a:avLst>
              <a:gd name="adj" fmla="val 30000"/>
            </a:avLst>
          </a:prstGeom>
          <a:solidFill>
            <a:srgbClr val="1F2937"/>
          </a:solidFill>
          <a:ln w="1524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222126" y="1491566"/>
            <a:ext cx="2173361" cy="203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input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222126" y="1611760"/>
            <a:ext cx="2173361" cy="22409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algn="ctr"/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text, image, speech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8308807" y="1848075"/>
            <a:ext cx="0" cy="254650"/>
          </a:xfrm>
          <a:prstGeom prst="line">
            <a:avLst/>
          </a:prstGeom>
          <a:noFill/>
          <a:ln w="19050">
            <a:solidFill>
              <a:srgbClr val="4B556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234235" y="2153655"/>
            <a:ext cx="1778204" cy="407440"/>
          </a:xfrm>
          <a:prstGeom prst="roundRect">
            <a:avLst>
              <a:gd name="adj" fmla="val 30000"/>
            </a:avLst>
          </a:prstGeom>
          <a:solidFill>
            <a:srgbClr val="3B1F6E"/>
          </a:solidFill>
          <a:ln w="1524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34235" y="2204585"/>
            <a:ext cx="1778204" cy="203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DDD6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agent (in)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34235" y="2324780"/>
            <a:ext cx="1778204" cy="22409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algn="ctr"/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speech → text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8210018" y="2153655"/>
            <a:ext cx="2568517" cy="407440"/>
          </a:xfrm>
          <a:prstGeom prst="roundRect">
            <a:avLst>
              <a:gd name="adj" fmla="val 30000"/>
            </a:avLst>
          </a:prstGeom>
          <a:solidFill>
            <a:srgbClr val="5C1A1A"/>
          </a:solidFill>
          <a:ln w="1524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10018" y="2204585"/>
            <a:ext cx="2568517" cy="203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FE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guardrails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10018" y="2324780"/>
            <a:ext cx="2568517" cy="22409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algn="ctr"/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injection · sanitise · access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8308807" y="2561095"/>
            <a:ext cx="0" cy="254650"/>
          </a:xfrm>
          <a:prstGeom prst="line">
            <a:avLst/>
          </a:prstGeom>
          <a:noFill/>
          <a:ln w="19050">
            <a:solidFill>
              <a:srgbClr val="4B556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629392" y="2866675"/>
            <a:ext cx="3358830" cy="407440"/>
          </a:xfrm>
          <a:prstGeom prst="roundRect">
            <a:avLst>
              <a:gd name="adj" fmla="val 30000"/>
            </a:avLst>
          </a:prstGeom>
          <a:solidFill>
            <a:srgbClr val="064E3B"/>
          </a:solidFill>
          <a:ln w="1524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629392" y="2917604"/>
            <a:ext cx="3358830" cy="203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routing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629392" y="3037799"/>
            <a:ext cx="3358830" cy="22409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algn="ctr"/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the right model for this task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8308807" y="3274114"/>
            <a:ext cx="0" cy="254650"/>
          </a:xfrm>
          <a:prstGeom prst="line">
            <a:avLst/>
          </a:prstGeom>
          <a:noFill/>
          <a:ln w="19050">
            <a:solidFill>
              <a:srgbClr val="4B556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776616" y="3579694"/>
            <a:ext cx="12447429" cy="3972537"/>
          </a:xfrm>
          <a:prstGeom prst="roundRect">
            <a:avLst>
              <a:gd name="adj" fmla="val 3846"/>
            </a:avLst>
          </a:prstGeom>
          <a:solidFill>
            <a:srgbClr val="111111"/>
          </a:solidFill>
          <a:ln w="2286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974194" y="3610252"/>
            <a:ext cx="12052273" cy="25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F87171"/>
                </a:solidFill>
              </a:rPr>
              <a:t>LLMOps / OBSERVABILITY — traces every LLM call, retrieval, tool call · logs cost + latency · detects regressions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072983" y="3936204"/>
            <a:ext cx="11854694" cy="3004868"/>
          </a:xfrm>
          <a:prstGeom prst="roundRect">
            <a:avLst>
              <a:gd name="adj" fmla="val 4068"/>
            </a:avLst>
          </a:prstGeom>
          <a:solidFill>
            <a:srgbClr val="0D1117"/>
          </a:solidFill>
          <a:ln w="1524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270562" y="3956576"/>
            <a:ext cx="7903130" cy="224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b="1" dirty="0">
                <a:solidFill>
                  <a:srgbClr val="60A5FA"/>
                </a:solidFill>
              </a:rPr>
              <a:t>↻ AGENT REASONING LOOP — repeat until task is complete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468140" y="4241783"/>
            <a:ext cx="11064381" cy="427812"/>
          </a:xfrm>
          <a:prstGeom prst="roundRect">
            <a:avLst>
              <a:gd name="adj" fmla="val 28571"/>
            </a:avLst>
          </a:prstGeom>
          <a:solidFill>
            <a:srgbClr val="064E3B"/>
          </a:solidFill>
          <a:ln w="1524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468140" y="4292713"/>
            <a:ext cx="11064381" cy="213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engineering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468140" y="4421464"/>
            <a:ext cx="11064381" cy="235296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algn="ctr"/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assemble: system prompt + history + retrieved docs + tool outputs · prompt caching applied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8308807" y="4669595"/>
            <a:ext cx="0" cy="203720"/>
          </a:xfrm>
          <a:prstGeom prst="line">
            <a:avLst/>
          </a:prstGeom>
          <a:noFill/>
          <a:ln w="19050">
            <a:solidFill>
              <a:srgbClr val="4B556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234235" y="4903873"/>
            <a:ext cx="4149143" cy="488928"/>
          </a:xfrm>
          <a:prstGeom prst="roundRect">
            <a:avLst>
              <a:gd name="adj" fmla="val 25000"/>
            </a:avLst>
          </a:prstGeom>
          <a:solidFill>
            <a:srgbClr val="5C3A0A"/>
          </a:solidFill>
          <a:ln w="1524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234235" y="4954803"/>
            <a:ext cx="4149143" cy="244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FDE6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(structured output)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34235" y="5109223"/>
            <a:ext cx="4149143" cy="268911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algn="ctr"/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reasons → decides next action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925759" y="5392801"/>
            <a:ext cx="0" cy="305580"/>
          </a:xfrm>
          <a:prstGeom prst="line">
            <a:avLst/>
          </a:prstGeom>
          <a:noFill/>
          <a:ln w="15240">
            <a:solidFill>
              <a:srgbClr val="4B556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8308807" y="5392801"/>
            <a:ext cx="0" cy="305580"/>
          </a:xfrm>
          <a:prstGeom prst="line">
            <a:avLst/>
          </a:prstGeom>
          <a:noFill/>
          <a:ln w="15240">
            <a:solidFill>
              <a:srgbClr val="4B556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9790643" y="5392801"/>
            <a:ext cx="0" cy="305580"/>
          </a:xfrm>
          <a:prstGeom prst="line">
            <a:avLst/>
          </a:prstGeom>
          <a:noFill/>
          <a:ln w="15240">
            <a:solidFill>
              <a:srgbClr val="4B556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641500" y="5586334"/>
            <a:ext cx="2568517" cy="25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knowledge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7123337" y="5586334"/>
            <a:ext cx="2370939" cy="25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to act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8605174" y="5586334"/>
            <a:ext cx="2370939" cy="25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other agents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3369351" y="5769682"/>
            <a:ext cx="3358830" cy="356510"/>
          </a:xfrm>
          <a:prstGeom prst="roundRect">
            <a:avLst>
              <a:gd name="adj" fmla="val 34286"/>
            </a:avLst>
          </a:prstGeom>
          <a:solidFill>
            <a:srgbClr val="1E3A5F"/>
          </a:solidFill>
          <a:ln w="1524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369351" y="5820612"/>
            <a:ext cx="3358830" cy="178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BFD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pipeline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369351" y="5919417"/>
            <a:ext cx="3358830" cy="19608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algn="ctr"/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 → vector DB → retrieve → rerank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369351" y="6177122"/>
            <a:ext cx="3358830" cy="305580"/>
          </a:xfrm>
          <a:prstGeom prst="roundRect">
            <a:avLst>
              <a:gd name="adj" fmla="val 40000"/>
            </a:avLst>
          </a:prstGeom>
          <a:solidFill>
            <a:srgbClr val="1E3A5F"/>
          </a:solidFill>
          <a:ln w="1524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3369351" y="6177122"/>
            <a:ext cx="3358830" cy="305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BFD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Variants: multimodal · graph · agentic RAG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369351" y="6503074"/>
            <a:ext cx="3358830" cy="25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LlamaIndex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6925759" y="5769682"/>
            <a:ext cx="2766095" cy="356510"/>
          </a:xfrm>
          <a:prstGeom prst="roundRect">
            <a:avLst>
              <a:gd name="adj" fmla="val 34286"/>
            </a:avLst>
          </a:prstGeom>
          <a:solidFill>
            <a:srgbClr val="3B1F6E"/>
          </a:solidFill>
          <a:ln w="1524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925759" y="5820612"/>
            <a:ext cx="2766095" cy="178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DDD6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 calling / MCP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925759" y="5919417"/>
            <a:ext cx="2766095" cy="19608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algn="ctr"/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APIs · connect external services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925759" y="6177122"/>
            <a:ext cx="2766095" cy="305580"/>
          </a:xfrm>
          <a:prstGeom prst="roundRect">
            <a:avLst>
              <a:gd name="adj" fmla="val 40000"/>
            </a:avLst>
          </a:prstGeom>
          <a:solidFill>
            <a:srgbClr val="3B1F6E"/>
          </a:solidFill>
          <a:ln w="1524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925759" y="6177122"/>
            <a:ext cx="2766095" cy="305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DDD6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agent / Computer use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925759" y="6503074"/>
            <a:ext cx="2766095" cy="25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9889433" y="5769682"/>
            <a:ext cx="2963674" cy="356510"/>
          </a:xfrm>
          <a:prstGeom prst="roundRect">
            <a:avLst>
              <a:gd name="adj" fmla="val 34286"/>
            </a:avLst>
          </a:prstGeom>
          <a:solidFill>
            <a:srgbClr val="5C1A3D"/>
          </a:solidFill>
          <a:ln w="1524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9889433" y="5820612"/>
            <a:ext cx="2963674" cy="178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FBC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(CrewAI)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9889433" y="5919417"/>
            <a:ext cx="2963674" cy="19608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algn="ctr"/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researcher + writer + reviewer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9889433" y="6177122"/>
            <a:ext cx="2963674" cy="305580"/>
          </a:xfrm>
          <a:prstGeom prst="roundRect">
            <a:avLst>
              <a:gd name="adj" fmla="val 40000"/>
            </a:avLst>
          </a:prstGeom>
          <a:solidFill>
            <a:srgbClr val="5C1A3D"/>
          </a:solidFill>
          <a:ln w="1524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9889433" y="6228052"/>
            <a:ext cx="2963674" cy="152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FBC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A2A protocol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9889433" y="6305465"/>
            <a:ext cx="2963674" cy="168069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algn="ctr"/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↔ agent communication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9889433" y="6503074"/>
            <a:ext cx="2963674" cy="25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CrewAI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13050684" y="5769682"/>
            <a:ext cx="1876993" cy="713019"/>
          </a:xfrm>
          <a:prstGeom prst="roundRect">
            <a:avLst>
              <a:gd name="adj" fmla="val 11429"/>
            </a:avLst>
          </a:prstGeom>
          <a:solidFill>
            <a:srgbClr val="1F2937"/>
          </a:solidFill>
          <a:ln w="1016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13050684" y="5769682"/>
            <a:ext cx="1876993" cy="713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dirty="0">
                <a:solidFill>
                  <a:srgbClr val="9CA3AF"/>
                </a:solidFill>
              </a:rPr>
              <a:t>LLM</a:t>
            </a:r>
            <a:endParaRPr lang="en-US" sz="800" dirty="0"/>
          </a:p>
          <a:p>
            <a:pPr algn="ctr"/>
            <a:r>
              <a:rPr lang="en-US" sz="800" dirty="0">
                <a:solidFill>
                  <a:srgbClr val="9CA3AF"/>
                </a:solidFill>
              </a:rPr>
              <a:t>orchestration</a:t>
            </a:r>
            <a:endParaRPr lang="en-US" sz="800" dirty="0"/>
          </a:p>
          <a:p>
            <a:pPr algn="ctr"/>
            <a:r>
              <a:rPr lang="en-US" sz="800" dirty="0">
                <a:solidFill>
                  <a:srgbClr val="9CA3AF"/>
                </a:solidFill>
              </a:rPr>
              <a:t>(LangChain)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3468140" y="6686422"/>
            <a:ext cx="11064381" cy="203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dirty="0">
                <a:solidFill>
                  <a:srgbClr val="60A5FA"/>
                </a:solidFill>
              </a:rPr>
              <a:t>↑ results feed back into context engineering ↑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3468140" y="7093861"/>
            <a:ext cx="11459538" cy="356510"/>
          </a:xfrm>
          <a:prstGeom prst="roundRect">
            <a:avLst>
              <a:gd name="adj" fmla="val 34286"/>
            </a:avLst>
          </a:prstGeom>
          <a:solidFill>
            <a:srgbClr val="5C1A1A"/>
          </a:solidFill>
          <a:ln w="1524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3468140" y="7144791"/>
            <a:ext cx="11459538" cy="178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FE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/ RAGAS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3468140" y="7243596"/>
            <a:ext cx="11459538" cy="19608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algn="ctr"/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retrieval quality · groundedness · answer relevance · regression tests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8308807" y="7552231"/>
            <a:ext cx="0" cy="203720"/>
          </a:xfrm>
          <a:prstGeom prst="line">
            <a:avLst/>
          </a:prstGeom>
          <a:noFill/>
          <a:ln w="19050">
            <a:solidFill>
              <a:srgbClr val="4B556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5937868" y="7806881"/>
            <a:ext cx="4741878" cy="407440"/>
          </a:xfrm>
          <a:prstGeom prst="roundRect">
            <a:avLst>
              <a:gd name="adj" fmla="val 30000"/>
            </a:avLst>
          </a:prstGeom>
          <a:solidFill>
            <a:srgbClr val="5C1A1A"/>
          </a:solidFill>
          <a:ln w="1524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5937868" y="7857811"/>
            <a:ext cx="4741878" cy="203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FE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guardrails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5937868" y="7978005"/>
            <a:ext cx="4741878" cy="22409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algn="ctr"/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PII · block harmful · validate format · check groundedness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8308807" y="8214320"/>
            <a:ext cx="0" cy="152790"/>
          </a:xfrm>
          <a:prstGeom prst="line">
            <a:avLst/>
          </a:prstGeom>
          <a:noFill/>
          <a:ln w="19050">
            <a:solidFill>
              <a:srgbClr val="4B556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6234235" y="8418040"/>
            <a:ext cx="1975782" cy="356510"/>
          </a:xfrm>
          <a:prstGeom prst="roundRect">
            <a:avLst>
              <a:gd name="adj" fmla="val 34286"/>
            </a:avLst>
          </a:prstGeom>
          <a:solidFill>
            <a:srgbClr val="1F2937"/>
          </a:solidFill>
          <a:ln w="1524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6234235" y="8418040"/>
            <a:ext cx="1975782" cy="356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to user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8407596" y="8418040"/>
            <a:ext cx="1975782" cy="356510"/>
          </a:xfrm>
          <a:prstGeom prst="roundRect">
            <a:avLst>
              <a:gd name="adj" fmla="val 34286"/>
            </a:avLst>
          </a:prstGeom>
          <a:solidFill>
            <a:srgbClr val="3B1F6E"/>
          </a:solidFill>
          <a:ln w="1524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8308807" y="8426141"/>
            <a:ext cx="1975782" cy="178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DDD6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agent (out)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8255196" y="8578470"/>
            <a:ext cx="1975782" cy="19608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algn="ctr"/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→ speech</a:t>
            </a:r>
            <a:endParaRPr lang="en-US" sz="800" dirty="0"/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1307B9BC-6993-FBB4-7A86-B0765497F9D0}"/>
              </a:ext>
            </a:extLst>
          </p:cNvPr>
          <p:cNvGrpSpPr/>
          <p:nvPr/>
        </p:nvGrpSpPr>
        <p:grpSpPr>
          <a:xfrm>
            <a:off x="6876364" y="9138699"/>
            <a:ext cx="2667306" cy="356510"/>
            <a:chOff x="11667637" y="7908741"/>
            <a:chExt cx="2667306" cy="356510"/>
          </a:xfrm>
        </p:grpSpPr>
        <p:sp>
          <p:nvSpPr>
            <p:cNvPr id="75" name="Shape 73"/>
            <p:cNvSpPr/>
            <p:nvPr/>
          </p:nvSpPr>
          <p:spPr>
            <a:xfrm>
              <a:off x="11667637" y="7908741"/>
              <a:ext cx="1284259" cy="356510"/>
            </a:xfrm>
            <a:prstGeom prst="roundRect">
              <a:avLst>
                <a:gd name="adj" fmla="val 34286"/>
              </a:avLst>
            </a:prstGeom>
            <a:solidFill>
              <a:srgbClr val="064E3B"/>
            </a:solidFill>
            <a:ln w="15240">
              <a:solidFill>
                <a:srgbClr val="10B98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Text 74"/>
            <p:cNvSpPr/>
            <p:nvPr/>
          </p:nvSpPr>
          <p:spPr>
            <a:xfrm>
              <a:off x="11667637" y="7959671"/>
              <a:ext cx="1284259" cy="1782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100" b="1" dirty="0">
                  <a:solidFill>
                    <a:srgbClr val="A7F3D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FastAPI</a:t>
              </a:r>
              <a:endParaRPr lang="en-US" sz="1100" dirty="0"/>
            </a:p>
          </p:txBody>
        </p:sp>
        <p:sp>
          <p:nvSpPr>
            <p:cNvPr id="77" name="Text 75"/>
            <p:cNvSpPr/>
            <p:nvPr/>
          </p:nvSpPr>
          <p:spPr>
            <a:xfrm>
              <a:off x="11667637" y="8058475"/>
              <a:ext cx="1284259" cy="196080"/>
            </a:xfrm>
            <a:prstGeom prst="rect">
              <a:avLst/>
            </a:prstGeom>
            <a:noFill/>
            <a:ln/>
          </p:spPr>
          <p:txBody>
            <a:bodyPr wrap="square" lIns="0" tIns="50800" rIns="50800" bIns="0" rtlCol="0" anchor="t"/>
            <a:lstStyle/>
            <a:p>
              <a:pPr algn="ctr"/>
              <a:r>
                <a:rPr lang="en-US" sz="800" dirty="0">
                  <a:solidFill>
                    <a:srgbClr val="9CA3A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serve as API</a:t>
              </a:r>
              <a:endParaRPr lang="en-US" sz="800" dirty="0"/>
            </a:p>
          </p:txBody>
        </p:sp>
        <p:sp>
          <p:nvSpPr>
            <p:cNvPr id="78" name="Shape 76"/>
            <p:cNvSpPr/>
            <p:nvPr/>
          </p:nvSpPr>
          <p:spPr>
            <a:xfrm>
              <a:off x="13050684" y="7908741"/>
              <a:ext cx="1284259" cy="356510"/>
            </a:xfrm>
            <a:prstGeom prst="roundRect">
              <a:avLst>
                <a:gd name="adj" fmla="val 34286"/>
              </a:avLst>
            </a:prstGeom>
            <a:solidFill>
              <a:srgbClr val="064E3B"/>
            </a:solidFill>
            <a:ln w="15240">
              <a:solidFill>
                <a:srgbClr val="10B98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Text 77"/>
            <p:cNvSpPr/>
            <p:nvPr/>
          </p:nvSpPr>
          <p:spPr>
            <a:xfrm>
              <a:off x="13050684" y="7959671"/>
              <a:ext cx="1284259" cy="1782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100" b="1" dirty="0">
                  <a:solidFill>
                    <a:srgbClr val="A7F3D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Docker</a:t>
              </a:r>
              <a:endParaRPr lang="en-US" sz="1100" dirty="0"/>
            </a:p>
          </p:txBody>
        </p:sp>
        <p:sp>
          <p:nvSpPr>
            <p:cNvPr id="80" name="Text 78"/>
            <p:cNvSpPr/>
            <p:nvPr/>
          </p:nvSpPr>
          <p:spPr>
            <a:xfrm>
              <a:off x="13050684" y="8058475"/>
              <a:ext cx="1284259" cy="196080"/>
            </a:xfrm>
            <a:prstGeom prst="rect">
              <a:avLst/>
            </a:prstGeom>
            <a:noFill/>
            <a:ln/>
          </p:spPr>
          <p:txBody>
            <a:bodyPr wrap="square" lIns="0" tIns="50800" rIns="50800" bIns="0" rtlCol="0" anchor="t"/>
            <a:lstStyle/>
            <a:p>
              <a:pPr algn="ctr"/>
              <a:r>
                <a:rPr lang="en-US" sz="800" dirty="0">
                  <a:solidFill>
                    <a:srgbClr val="9CA3A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containerise</a:t>
              </a:r>
              <a:endParaRPr lang="en-US" sz="800" dirty="0"/>
            </a:p>
          </p:txBody>
        </p:sp>
      </p:grpSp>
      <p:sp>
        <p:nvSpPr>
          <p:cNvPr id="84" name="TextBox 83">
            <a:extLst>
              <a:ext uri="{FF2B5EF4-FFF2-40B4-BE49-F238E27FC236}">
                <a16:creationId xmlns:a16="http://schemas.microsoft.com/office/drawing/2014/main" id="{CC9471CF-1225-3092-FDDF-19A9B59C3611}"/>
              </a:ext>
            </a:extLst>
          </p:cNvPr>
          <p:cNvSpPr txBox="1"/>
          <p:nvPr/>
        </p:nvSpPr>
        <p:spPr>
          <a:xfrm>
            <a:off x="6876364" y="9607785"/>
            <a:ext cx="89992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0" i="0">
                <a:solidFill>
                  <a:srgbClr val="C3C2B7"/>
                </a:solidFill>
                <a:effectLst/>
                <a:latin typeface="anthropic-sans"/>
              </a:rPr>
              <a:t>deployment layer packages and serves the entire system above</a:t>
            </a:r>
            <a:endParaRPr lang="en-US" sz="2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70091" y="2108041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BFD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A: RAG — needs knowledge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270091" y="2519521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gives the LLM access to your own data. The core operation is: embed a query → search a vector database → retrieve relevant chunks → feed them to the LLM.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361531" y="3251041"/>
            <a:ext cx="2011680" cy="457200"/>
          </a:xfrm>
          <a:prstGeom prst="roundRect">
            <a:avLst>
              <a:gd name="adj" fmla="val 24000"/>
            </a:avLst>
          </a:prstGeom>
          <a:solidFill>
            <a:srgbClr val="1F2937"/>
          </a:solidFill>
          <a:ln w="1524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361531" y="3296761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query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361531" y="3443065"/>
            <a:ext cx="2011680" cy="2514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algn="ctr"/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"How does X work?"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373211" y="3479641"/>
            <a:ext cx="457200" cy="0"/>
          </a:xfrm>
          <a:prstGeom prst="line">
            <a:avLst/>
          </a:prstGeom>
          <a:noFill/>
          <a:ln w="19050">
            <a:solidFill>
              <a:srgbClr val="4B556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921851" y="3251041"/>
            <a:ext cx="2011680" cy="457200"/>
          </a:xfrm>
          <a:prstGeom prst="roundRect">
            <a:avLst>
              <a:gd name="adj" fmla="val 24000"/>
            </a:avLst>
          </a:prstGeom>
          <a:solidFill>
            <a:srgbClr val="1E3A5F"/>
          </a:solidFill>
          <a:ln w="1524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21851" y="3296761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BFD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 model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21851" y="3443065"/>
            <a:ext cx="2011680" cy="2514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algn="ctr"/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→ vector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933531" y="3479641"/>
            <a:ext cx="457200" cy="0"/>
          </a:xfrm>
          <a:prstGeom prst="line">
            <a:avLst/>
          </a:prstGeom>
          <a:noFill/>
          <a:ln w="19050">
            <a:solidFill>
              <a:srgbClr val="4B556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482171" y="3251041"/>
            <a:ext cx="2194560" cy="457200"/>
          </a:xfrm>
          <a:prstGeom prst="roundRect">
            <a:avLst>
              <a:gd name="adj" fmla="val 24000"/>
            </a:avLst>
          </a:prstGeom>
          <a:solidFill>
            <a:srgbClr val="1E3A5F"/>
          </a:solidFill>
          <a:ln w="1524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482171" y="3296761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BFD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database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482171" y="3443065"/>
            <a:ext cx="2194560" cy="2514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algn="ctr"/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 search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0676731" y="3479641"/>
            <a:ext cx="457200" cy="0"/>
          </a:xfrm>
          <a:prstGeom prst="line">
            <a:avLst/>
          </a:prstGeom>
          <a:noFill/>
          <a:ln w="19050">
            <a:solidFill>
              <a:srgbClr val="4B556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225371" y="3251041"/>
            <a:ext cx="1828800" cy="457200"/>
          </a:xfrm>
          <a:prstGeom prst="roundRect">
            <a:avLst>
              <a:gd name="adj" fmla="val 24000"/>
            </a:avLst>
          </a:prstGeom>
          <a:solidFill>
            <a:srgbClr val="1E3A5F"/>
          </a:solidFill>
          <a:ln w="1524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1225371" y="3296761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BFD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Rerank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225371" y="3443065"/>
            <a:ext cx="1828800" cy="2514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algn="ctr"/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relevance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3054171" y="3479641"/>
            <a:ext cx="457200" cy="0"/>
          </a:xfrm>
          <a:prstGeom prst="line">
            <a:avLst/>
          </a:prstGeom>
          <a:noFill/>
          <a:ln w="19050">
            <a:solidFill>
              <a:srgbClr val="4B556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3602811" y="3251041"/>
            <a:ext cx="1188720" cy="457200"/>
          </a:xfrm>
          <a:prstGeom prst="roundRect">
            <a:avLst>
              <a:gd name="adj" fmla="val 24000"/>
            </a:avLst>
          </a:prstGeom>
          <a:solidFill>
            <a:srgbClr val="5C3A0A"/>
          </a:solidFill>
          <a:ln w="1524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3602811" y="3296761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FDE6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3602811" y="3443065"/>
            <a:ext cx="1188720" cy="2514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algn="ctr"/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270091" y="4165441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FFFFFF"/>
                </a:solidFill>
              </a:rPr>
              <a:t>Variants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361531" y="4531201"/>
            <a:ext cx="2560320" cy="731520"/>
          </a:xfrm>
          <a:prstGeom prst="roundRect">
            <a:avLst>
              <a:gd name="adj" fmla="val 15000"/>
            </a:avLst>
          </a:prstGeom>
          <a:solidFill>
            <a:srgbClr val="1E3A5F"/>
          </a:solidFill>
          <a:ln w="1524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361531" y="4576921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BFD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RAG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361531" y="4838439"/>
            <a:ext cx="2560320" cy="402336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algn="ctr"/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documents</a:t>
            </a:r>
            <a:endParaRPr lang="en-US" sz="800" dirty="0"/>
          </a:p>
          <a:p>
            <a:pPr algn="ctr"/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query → retrieve → answer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104731" y="4531201"/>
            <a:ext cx="2560320" cy="731520"/>
          </a:xfrm>
          <a:prstGeom prst="roundRect">
            <a:avLst>
              <a:gd name="adj" fmla="val 15000"/>
            </a:avLst>
          </a:prstGeom>
          <a:solidFill>
            <a:srgbClr val="1E3A5F"/>
          </a:solidFill>
          <a:ln w="1524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104731" y="4576921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BFD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 RAG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04731" y="4838439"/>
            <a:ext cx="2560320" cy="402336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algn="ctr"/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+ images</a:t>
            </a:r>
            <a:endParaRPr lang="en-US" sz="800" dirty="0"/>
          </a:p>
          <a:p>
            <a:pPr algn="ctr"/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CLIP embeddings</a:t>
            </a:r>
            <a:endParaRPr lang="en-US" sz="800" dirty="0"/>
          </a:p>
          <a:p>
            <a:pPr algn="ctr"/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VPR skills apply here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8847931" y="4531201"/>
            <a:ext cx="2560320" cy="731520"/>
          </a:xfrm>
          <a:prstGeom prst="roundRect">
            <a:avLst>
              <a:gd name="adj" fmla="val 15000"/>
            </a:avLst>
          </a:prstGeom>
          <a:solidFill>
            <a:srgbClr val="1E3A5F"/>
          </a:solidFill>
          <a:ln w="1524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847931" y="4576921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BFD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RAG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847931" y="4838439"/>
            <a:ext cx="2560320" cy="402336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algn="ctr"/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graph (Neo4j)</a:t>
            </a:r>
            <a:endParaRPr lang="en-US" sz="800" dirty="0"/>
          </a:p>
          <a:p>
            <a:pPr algn="ctr"/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facts across docs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1591131" y="4531201"/>
            <a:ext cx="3017520" cy="731520"/>
          </a:xfrm>
          <a:prstGeom prst="roundRect">
            <a:avLst>
              <a:gd name="adj" fmla="val 15000"/>
            </a:avLst>
          </a:prstGeom>
          <a:solidFill>
            <a:srgbClr val="1E3A5F"/>
          </a:solidFill>
          <a:ln w="1524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1591131" y="4576921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BFD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RAG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1591131" y="4838439"/>
            <a:ext cx="3017520" cy="402336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algn="ctr"/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controls retrieval</a:t>
            </a:r>
            <a:endParaRPr lang="en-US" sz="800" dirty="0"/>
          </a:p>
          <a:p>
            <a:pPr algn="ctr"/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decides when/what to retrieve</a:t>
            </a:r>
            <a:endParaRPr lang="en-US" sz="800" dirty="0"/>
          </a:p>
          <a:p>
            <a:pPr algn="ctr"/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 to agentic AI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270091" y="5719921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FFFFFF"/>
                </a:solidFill>
              </a:rPr>
              <a:t>Vector database options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3361531" y="6085681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1E3A5F"/>
          </a:solidFill>
          <a:ln w="1524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361531" y="6131401"/>
            <a:ext cx="2286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BFD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Pinecone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361531" y="6296907"/>
            <a:ext cx="2286000" cy="276606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algn="ctr"/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cloud · easiest to start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830411" y="6085681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1E3A5F"/>
          </a:solidFill>
          <a:ln w="1524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830411" y="6131401"/>
            <a:ext cx="2286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BFD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Qdrant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830411" y="6296907"/>
            <a:ext cx="2286000" cy="276606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algn="ctr"/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source · high performance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8299291" y="6085681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1E3A5F"/>
          </a:solidFill>
          <a:ln w="1524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8299291" y="6131401"/>
            <a:ext cx="2286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BFD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ChromaDB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299291" y="6296907"/>
            <a:ext cx="2286000" cy="276606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algn="ctr"/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lightweight · local dev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10768171" y="6085681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1E3A5F"/>
          </a:solidFill>
          <a:ln w="1524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10768171" y="6131401"/>
            <a:ext cx="2286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BFD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pgvector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0768171" y="6296907"/>
            <a:ext cx="2286000" cy="276606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algn="ctr"/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extension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3270091" y="6817201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9CA3AF"/>
                </a:solidFill>
              </a:rPr>
              <a:t>Framework: LlamaIndex — specifically built for RAG pipelines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70091" y="2108041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DDD6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B + C: Agentic AI — needs to act / needs other agents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270091" y="2519521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9CA3AF"/>
                </a:solidFill>
              </a:rPr>
              <a:t>An agent is an LLM in a loop. It reasons, calls tools, observes results, and repeats until the task is done.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019131" y="3068161"/>
            <a:ext cx="2743200" cy="457200"/>
          </a:xfrm>
          <a:prstGeom prst="roundRect">
            <a:avLst>
              <a:gd name="adj" fmla="val 24000"/>
            </a:avLst>
          </a:prstGeom>
          <a:solidFill>
            <a:srgbClr val="5C3A0A"/>
          </a:solidFill>
          <a:ln w="1524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019131" y="3113881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FDE6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reasons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019131" y="3260185"/>
            <a:ext cx="2743200" cy="2514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algn="ctr"/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should I do next?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647531" y="3296761"/>
            <a:ext cx="1371600" cy="0"/>
          </a:xfrm>
          <a:prstGeom prst="line">
            <a:avLst/>
          </a:prstGeom>
          <a:noFill/>
          <a:ln w="15240">
            <a:solidFill>
              <a:srgbClr val="4B556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762331" y="3296761"/>
            <a:ext cx="1371600" cy="0"/>
          </a:xfrm>
          <a:prstGeom prst="line">
            <a:avLst/>
          </a:prstGeom>
          <a:noFill/>
          <a:ln w="15240">
            <a:solidFill>
              <a:srgbClr val="4B556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361531" y="3068161"/>
            <a:ext cx="2286000" cy="457200"/>
          </a:xfrm>
          <a:prstGeom prst="roundRect">
            <a:avLst>
              <a:gd name="adj" fmla="val 24000"/>
            </a:avLst>
          </a:prstGeom>
          <a:solidFill>
            <a:srgbClr val="064E3B"/>
          </a:solidFill>
          <a:ln w="1524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361531" y="3113881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assembled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61531" y="3260185"/>
            <a:ext cx="2286000" cy="2514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algn="ctr"/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 + tools + history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1133931" y="3068161"/>
            <a:ext cx="2286000" cy="457200"/>
          </a:xfrm>
          <a:prstGeom prst="roundRect">
            <a:avLst>
              <a:gd name="adj" fmla="val 24000"/>
            </a:avLst>
          </a:prstGeom>
          <a:solidFill>
            <a:srgbClr val="3B1F6E"/>
          </a:solidFill>
          <a:ln w="1524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133931" y="3113881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DDD6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action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133931" y="3260185"/>
            <a:ext cx="2286000" cy="2514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algn="ctr"/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tool / retrieve / delegate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2276931" y="3525361"/>
            <a:ext cx="0" cy="457200"/>
          </a:xfrm>
          <a:prstGeom prst="line">
            <a:avLst/>
          </a:prstGeom>
          <a:noFill/>
          <a:ln w="1524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04531" y="3982561"/>
            <a:ext cx="7772400" cy="0"/>
          </a:xfrm>
          <a:prstGeom prst="line">
            <a:avLst/>
          </a:prstGeom>
          <a:noFill/>
          <a:ln w="15240">
            <a:solidFill>
              <a:srgbClr val="60A5F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04531" y="3525361"/>
            <a:ext cx="0" cy="457200"/>
          </a:xfrm>
          <a:prstGeom prst="line">
            <a:avLst/>
          </a:prstGeom>
          <a:noFill/>
          <a:ln w="1524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104731" y="3799681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↻ results feed back · loop repeats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270091" y="4439761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FFFFFF"/>
                </a:solidFill>
              </a:rPr>
              <a:t>What the agent can do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361531" y="4805521"/>
            <a:ext cx="3474720" cy="640080"/>
          </a:xfrm>
          <a:prstGeom prst="roundRect">
            <a:avLst>
              <a:gd name="adj" fmla="val 17143"/>
            </a:avLst>
          </a:prstGeom>
          <a:solidFill>
            <a:srgbClr val="3B1F6E"/>
          </a:solidFill>
          <a:ln w="1524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361531" y="4851241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DDD6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 calling / Tool use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61531" y="5074355"/>
            <a:ext cx="3474720" cy="352044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algn="ctr"/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outputs JSON: {tool, arguments}</a:t>
            </a:r>
            <a:endParaRPr lang="en-US" sz="800" dirty="0"/>
          </a:p>
          <a:p>
            <a:pPr algn="ctr"/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code executes the function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019131" y="4805521"/>
            <a:ext cx="3474720" cy="640080"/>
          </a:xfrm>
          <a:prstGeom prst="roundRect">
            <a:avLst>
              <a:gd name="adj" fmla="val 17143"/>
            </a:avLst>
          </a:prstGeom>
          <a:solidFill>
            <a:srgbClr val="3B1F6E"/>
          </a:solidFill>
          <a:ln w="1524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019131" y="4851241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DDD6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(Model Context Protocol)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019131" y="5074355"/>
            <a:ext cx="3474720" cy="352044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algn="ctr"/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connector: agent ↔ tools</a:t>
            </a:r>
            <a:endParaRPr lang="en-US" sz="800" dirty="0"/>
          </a:p>
          <a:p>
            <a:pPr algn="ctr"/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USB-C for AI agents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0676731" y="4805521"/>
            <a:ext cx="3840480" cy="640080"/>
          </a:xfrm>
          <a:prstGeom prst="roundRect">
            <a:avLst>
              <a:gd name="adj" fmla="val 17143"/>
            </a:avLst>
          </a:prstGeom>
          <a:solidFill>
            <a:srgbClr val="3B1F6E"/>
          </a:solidFill>
          <a:ln w="1524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676731" y="4851241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DDD6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agent / Computer use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676731" y="5074355"/>
            <a:ext cx="3840480" cy="352044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algn="ctr"/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browser: click, fill, navigate</a:t>
            </a:r>
            <a:endParaRPr lang="en-US" sz="800" dirty="0"/>
          </a:p>
          <a:p>
            <a:pPr algn="ctr"/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OpenClaw is built on this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270091" y="5811361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FFFFFF"/>
                </a:solidFill>
              </a:rPr>
              <a:t>Multi-agent systems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361531" y="6177121"/>
            <a:ext cx="2743200" cy="822960"/>
          </a:xfrm>
          <a:prstGeom prst="roundRect">
            <a:avLst>
              <a:gd name="adj" fmla="val 13333"/>
            </a:avLst>
          </a:prstGeom>
          <a:solidFill>
            <a:srgbClr val="5C1A3D"/>
          </a:solidFill>
          <a:ln w="1524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361531" y="6222841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FBC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 agent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361531" y="6522764"/>
            <a:ext cx="2743200" cy="452628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algn="ctr"/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breaks task into sub-tasks</a:t>
            </a:r>
            <a:endParaRPr lang="en-US" sz="800" dirty="0"/>
          </a:p>
          <a:p>
            <a:pPr algn="ctr"/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assigns to specialists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104731" y="6588601"/>
            <a:ext cx="365760" cy="0"/>
          </a:xfrm>
          <a:prstGeom prst="line">
            <a:avLst/>
          </a:prstGeom>
          <a:noFill/>
          <a:ln w="19050">
            <a:solidFill>
              <a:srgbClr val="4B556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561931" y="6177121"/>
            <a:ext cx="2286000" cy="822960"/>
          </a:xfrm>
          <a:prstGeom prst="roundRect">
            <a:avLst>
              <a:gd name="adj" fmla="val 13333"/>
            </a:avLst>
          </a:prstGeom>
          <a:solidFill>
            <a:srgbClr val="5C1A3D"/>
          </a:solidFill>
          <a:ln w="1524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561931" y="6222841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FBC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Researcher agent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561931" y="6522764"/>
            <a:ext cx="2286000" cy="452628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algn="ctr"/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searches web</a:t>
            </a:r>
            <a:endParaRPr lang="en-US" sz="800" dirty="0"/>
          </a:p>
          <a:p>
            <a:pPr algn="ctr"/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retrieves sources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8847931" y="6588601"/>
            <a:ext cx="365760" cy="0"/>
          </a:xfrm>
          <a:prstGeom prst="line">
            <a:avLst/>
          </a:prstGeom>
          <a:noFill/>
          <a:ln w="19050">
            <a:solidFill>
              <a:srgbClr val="4B556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9305131" y="6177121"/>
            <a:ext cx="2286000" cy="822960"/>
          </a:xfrm>
          <a:prstGeom prst="roundRect">
            <a:avLst>
              <a:gd name="adj" fmla="val 13333"/>
            </a:avLst>
          </a:prstGeom>
          <a:solidFill>
            <a:srgbClr val="5C1A3D"/>
          </a:solidFill>
          <a:ln w="1524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9305131" y="6222841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FBC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Writer agent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305131" y="6522764"/>
            <a:ext cx="2286000" cy="452628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algn="ctr"/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synthesises research</a:t>
            </a:r>
            <a:endParaRPr lang="en-US" sz="800" dirty="0"/>
          </a:p>
          <a:p>
            <a:pPr algn="ctr"/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produces report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11591131" y="6588601"/>
            <a:ext cx="365760" cy="0"/>
          </a:xfrm>
          <a:prstGeom prst="line">
            <a:avLst/>
          </a:prstGeom>
          <a:noFill/>
          <a:ln w="19050">
            <a:solidFill>
              <a:srgbClr val="4B556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12048331" y="6177121"/>
            <a:ext cx="2468880" cy="822960"/>
          </a:xfrm>
          <a:prstGeom prst="roundRect">
            <a:avLst>
              <a:gd name="adj" fmla="val 13333"/>
            </a:avLst>
          </a:prstGeom>
          <a:solidFill>
            <a:srgbClr val="5C1A3D"/>
          </a:solidFill>
          <a:ln w="1524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12048331" y="6222841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FBC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Reviewer agent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2048331" y="6522764"/>
            <a:ext cx="2468880" cy="452628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algn="ctr"/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 accuracy</a:t>
            </a:r>
            <a:endParaRPr lang="en-US" sz="800" dirty="0"/>
          </a:p>
          <a:p>
            <a:pPr algn="ctr"/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quality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361531" y="7091521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A2A protocol: how agents communicate with each other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361531" y="7320121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Framework: CrewAI (role-based) · LangGraph (stateful workflows)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270091" y="7731601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FFFFFF"/>
                </a:solidFill>
              </a:rPr>
              <a:t>Frameworks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3361531" y="8097361"/>
            <a:ext cx="3566160" cy="502920"/>
          </a:xfrm>
          <a:prstGeom prst="roundRect">
            <a:avLst>
              <a:gd name="adj" fmla="val 21818"/>
            </a:avLst>
          </a:prstGeom>
          <a:solidFill>
            <a:srgbClr val="1F2937"/>
          </a:solidFill>
          <a:ln w="1524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361531" y="8143081"/>
            <a:ext cx="35661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3361531" y="8308587"/>
            <a:ext cx="3566160" cy="276606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algn="ctr"/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orchestration · spans all layers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7110571" y="8097361"/>
            <a:ext cx="3566160" cy="502920"/>
          </a:xfrm>
          <a:prstGeom prst="roundRect">
            <a:avLst>
              <a:gd name="adj" fmla="val 21818"/>
            </a:avLst>
          </a:prstGeom>
          <a:solidFill>
            <a:srgbClr val="1F2937"/>
          </a:solidFill>
          <a:ln w="1524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7110571" y="8143081"/>
            <a:ext cx="35661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7110571" y="8308587"/>
            <a:ext cx="3566160" cy="276606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algn="ctr"/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workflows · state management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10859611" y="8097361"/>
            <a:ext cx="3657600" cy="502920"/>
          </a:xfrm>
          <a:prstGeom prst="roundRect">
            <a:avLst>
              <a:gd name="adj" fmla="val 21818"/>
            </a:avLst>
          </a:prstGeom>
          <a:solidFill>
            <a:srgbClr val="1F2937"/>
          </a:solidFill>
          <a:ln w="1524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10859611" y="8143081"/>
            <a:ext cx="3657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CrewAI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10859611" y="8308587"/>
            <a:ext cx="3657600" cy="276606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algn="ctr"/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collaboration · role-based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70091" y="2108041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E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4: Production and safety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270091" y="2519521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9CA3AF"/>
                </a:solidFill>
              </a:rPr>
              <a:t>Nothing ships without this. These components wrap around the entire system.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70091" y="3068161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FFFFFF"/>
                </a:solidFill>
              </a:rPr>
              <a:t>Guardrails (both sides)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361531" y="3433921"/>
            <a:ext cx="5394960" cy="731520"/>
          </a:xfrm>
          <a:prstGeom prst="roundRect">
            <a:avLst>
              <a:gd name="adj" fmla="val 15000"/>
            </a:avLst>
          </a:prstGeom>
          <a:solidFill>
            <a:srgbClr val="5C1A1A"/>
          </a:solidFill>
          <a:ln w="1524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361531" y="3479641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FE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guardrails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361531" y="3741159"/>
            <a:ext cx="5394960" cy="402336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algn="ctr"/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prompt injection · sanitise input</a:t>
            </a:r>
            <a:endParaRPr lang="en-US" sz="800" dirty="0"/>
          </a:p>
          <a:p>
            <a:pPr algn="ctr"/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access control · block malicious patterns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939371" y="3433921"/>
            <a:ext cx="5577840" cy="731520"/>
          </a:xfrm>
          <a:prstGeom prst="roundRect">
            <a:avLst>
              <a:gd name="adj" fmla="val 15000"/>
            </a:avLst>
          </a:prstGeom>
          <a:solidFill>
            <a:srgbClr val="5C1A1A"/>
          </a:solidFill>
          <a:ln w="1524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939371" y="3479641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FE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guardrails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939371" y="3741159"/>
            <a:ext cx="5577840" cy="402336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algn="ctr"/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PII · block harmful content</a:t>
            </a:r>
            <a:endParaRPr lang="en-US" sz="800" dirty="0"/>
          </a:p>
          <a:p>
            <a:pPr algn="ctr"/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format · check groundedness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270091" y="4531201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FFFFFF"/>
                </a:solidFill>
              </a:rPr>
              <a:t>LLMOps / Observability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361531" y="4896961"/>
            <a:ext cx="2743200" cy="640080"/>
          </a:xfrm>
          <a:prstGeom prst="roundRect">
            <a:avLst>
              <a:gd name="adj" fmla="val 17143"/>
            </a:avLst>
          </a:prstGeom>
          <a:solidFill>
            <a:srgbClr val="5C1A1A"/>
          </a:solidFill>
          <a:ln w="1524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61531" y="4942681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FE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every call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61531" y="5165795"/>
            <a:ext cx="2743200" cy="352044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algn="ctr"/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inputs/outputs</a:t>
            </a:r>
            <a:endParaRPr lang="en-US" sz="800" dirty="0"/>
          </a:p>
          <a:p>
            <a:pPr algn="ctr"/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 · cost · latency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287611" y="4896961"/>
            <a:ext cx="2743200" cy="640080"/>
          </a:xfrm>
          <a:prstGeom prst="roundRect">
            <a:avLst>
              <a:gd name="adj" fmla="val 17143"/>
            </a:avLst>
          </a:prstGeom>
          <a:solidFill>
            <a:srgbClr val="5C1A1A"/>
          </a:solidFill>
          <a:ln w="1524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87611" y="4942681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FE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regressions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87611" y="5165795"/>
            <a:ext cx="2743200" cy="352044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algn="ctr"/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changes broke quality?</a:t>
            </a:r>
            <a:endParaRPr lang="en-US" sz="800" dirty="0"/>
          </a:p>
          <a:p>
            <a:pPr algn="ctr"/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swap caused errors?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9213691" y="4896961"/>
            <a:ext cx="2743200" cy="640080"/>
          </a:xfrm>
          <a:prstGeom prst="roundRect">
            <a:avLst>
              <a:gd name="adj" fmla="val 17143"/>
            </a:avLst>
          </a:prstGeom>
          <a:solidFill>
            <a:srgbClr val="5C1A1A"/>
          </a:solidFill>
          <a:ln w="1524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213691" y="4942681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FE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debugging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213691" y="5165795"/>
            <a:ext cx="2743200" cy="352044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algn="ctr"/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reports bad answer</a:t>
            </a:r>
            <a:endParaRPr lang="en-US" sz="800" dirty="0"/>
          </a:p>
          <a:p>
            <a:pPr algn="ctr"/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exact failure point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2139771" y="4896961"/>
            <a:ext cx="2377440" cy="640080"/>
          </a:xfrm>
          <a:prstGeom prst="roundRect">
            <a:avLst>
              <a:gd name="adj" fmla="val 17143"/>
            </a:avLst>
          </a:prstGeom>
          <a:solidFill>
            <a:srgbClr val="1F2937"/>
          </a:solidFill>
          <a:ln w="1524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2139771" y="4942681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2139771" y="5165795"/>
            <a:ext cx="2377440" cy="352044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algn="ctr"/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LangSmith · Langfuse</a:t>
            </a:r>
            <a:endParaRPr lang="en-US" sz="800" dirty="0"/>
          </a:p>
          <a:p>
            <a:pPr algn="ctr"/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Helicone · Phoenix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270091" y="5902801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FFFFFF"/>
                </a:solidFill>
              </a:rPr>
              <a:t>Evaluation / RAGAS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361531" y="6268561"/>
            <a:ext cx="2651760" cy="640080"/>
          </a:xfrm>
          <a:prstGeom prst="roundRect">
            <a:avLst>
              <a:gd name="adj" fmla="val 17143"/>
            </a:avLst>
          </a:prstGeom>
          <a:solidFill>
            <a:srgbClr val="5C1A1A"/>
          </a:solidFill>
          <a:ln w="1524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361531" y="6314281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FE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Faithfulness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361531" y="6537395"/>
            <a:ext cx="2651760" cy="352044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algn="ctr"/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answer supported by</a:t>
            </a:r>
            <a:endParaRPr lang="en-US" sz="800" dirty="0"/>
          </a:p>
          <a:p>
            <a:pPr algn="ctr"/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retrieved documents?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196171" y="6268561"/>
            <a:ext cx="2651760" cy="640080"/>
          </a:xfrm>
          <a:prstGeom prst="roundRect">
            <a:avLst>
              <a:gd name="adj" fmla="val 17143"/>
            </a:avLst>
          </a:prstGeom>
          <a:solidFill>
            <a:srgbClr val="5C1A1A"/>
          </a:solidFill>
          <a:ln w="1524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196171" y="6314281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FE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relevancy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96171" y="6537395"/>
            <a:ext cx="2651760" cy="352044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algn="ctr"/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response</a:t>
            </a:r>
            <a:endParaRPr lang="en-US" sz="800" dirty="0"/>
          </a:p>
          <a:p>
            <a:pPr algn="ctr"/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the question?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9030811" y="6268561"/>
            <a:ext cx="2651760" cy="640080"/>
          </a:xfrm>
          <a:prstGeom prst="roundRect">
            <a:avLst>
              <a:gd name="adj" fmla="val 17143"/>
            </a:avLst>
          </a:prstGeom>
          <a:solidFill>
            <a:srgbClr val="5C1A1A"/>
          </a:solidFill>
          <a:ln w="1524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030811" y="6314281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FE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precision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030811" y="6537395"/>
            <a:ext cx="2651760" cy="352044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algn="ctr"/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the retrieved docs</a:t>
            </a:r>
            <a:endParaRPr lang="en-US" sz="800" dirty="0"/>
          </a:p>
          <a:p>
            <a:pPr algn="ctr"/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relevant to the query?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1865451" y="6268561"/>
            <a:ext cx="2651760" cy="640080"/>
          </a:xfrm>
          <a:prstGeom prst="roundRect">
            <a:avLst>
              <a:gd name="adj" fmla="val 17143"/>
            </a:avLst>
          </a:prstGeom>
          <a:solidFill>
            <a:srgbClr val="5C1A1A"/>
          </a:solidFill>
          <a:ln w="1524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1865451" y="6314281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FE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recall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1865451" y="6537395"/>
            <a:ext cx="2651760" cy="352044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algn="ctr"/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 retrieval find</a:t>
            </a:r>
            <a:endParaRPr lang="en-US" sz="800" dirty="0"/>
          </a:p>
          <a:p>
            <a:pPr algn="ctr"/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relevant docs?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270091" y="7274401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FFFFFF"/>
                </a:solidFill>
              </a:rPr>
              <a:t>Deployment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3361531" y="7640161"/>
            <a:ext cx="3566160" cy="548640"/>
          </a:xfrm>
          <a:prstGeom prst="roundRect">
            <a:avLst>
              <a:gd name="adj" fmla="val 20000"/>
            </a:avLst>
          </a:prstGeom>
          <a:solidFill>
            <a:srgbClr val="064E3B"/>
          </a:solidFill>
          <a:ln w="1524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361531" y="7685881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361531" y="7870590"/>
            <a:ext cx="3566160" cy="30175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algn="ctr"/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 your AI system as a REST API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7110571" y="7640161"/>
            <a:ext cx="3566160" cy="548640"/>
          </a:xfrm>
          <a:prstGeom prst="roundRect">
            <a:avLst>
              <a:gd name="adj" fmla="val 20000"/>
            </a:avLst>
          </a:prstGeom>
          <a:solidFill>
            <a:srgbClr val="064E3B"/>
          </a:solidFill>
          <a:ln w="1524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7110571" y="7685881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110571" y="7870590"/>
            <a:ext cx="3566160" cy="30175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algn="ctr"/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 everything into a container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10859611" y="7640161"/>
            <a:ext cx="3657600" cy="548640"/>
          </a:xfrm>
          <a:prstGeom prst="roundRect">
            <a:avLst>
              <a:gd name="adj" fmla="val 20000"/>
            </a:avLst>
          </a:prstGeom>
          <a:solidFill>
            <a:srgbClr val="064E3B"/>
          </a:solidFill>
          <a:ln w="1524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10859611" y="7685881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(AWS / GCP / Azure)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0859611" y="7870590"/>
            <a:ext cx="3657600" cy="30175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algn="ctr"/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· auto-scale · GPU instances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70091" y="2108041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order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270091" y="2519521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9CA3AF"/>
                </a:solidFill>
              </a:rPr>
              <a:t>Each layer requires the ones below it. Do not skip ahead.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275931" y="3068161"/>
            <a:ext cx="9326880" cy="1005840"/>
          </a:xfrm>
          <a:prstGeom prst="roundRect">
            <a:avLst>
              <a:gd name="adj" fmla="val 10909"/>
            </a:avLst>
          </a:prstGeom>
          <a:solidFill>
            <a:srgbClr val="064E3B"/>
          </a:solidFill>
          <a:ln w="1524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275931" y="3113881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1: LLM fundamentals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275931" y="3490614"/>
            <a:ext cx="9326880" cy="55321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algn="ctr"/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APIs · structured outputs · function calling · context engineering · semantic routing · fine-tuning · prompt caching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8939371" y="4074001"/>
            <a:ext cx="0" cy="274320"/>
          </a:xfrm>
          <a:prstGeom prst="line">
            <a:avLst/>
          </a:prstGeom>
          <a:noFill/>
          <a:ln w="19050">
            <a:solidFill>
              <a:srgbClr val="4B556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275931" y="4394041"/>
            <a:ext cx="9326880" cy="1005840"/>
          </a:xfrm>
          <a:prstGeom prst="roundRect">
            <a:avLst>
              <a:gd name="adj" fmla="val 10909"/>
            </a:avLst>
          </a:prstGeom>
          <a:solidFill>
            <a:srgbClr val="1E3A5F"/>
          </a:solidFill>
          <a:ln w="1524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275931" y="4439761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BFD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2: RAG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75931" y="4816494"/>
            <a:ext cx="9326880" cy="55321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algn="ctr"/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embeddings · vector databases · chunking · retrieval · reranking · multimodal RAG · graph RAG · evaluation (RAGAS)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8939371" y="5399881"/>
            <a:ext cx="0" cy="274320"/>
          </a:xfrm>
          <a:prstGeom prst="line">
            <a:avLst/>
          </a:prstGeom>
          <a:noFill/>
          <a:ln w="19050">
            <a:solidFill>
              <a:srgbClr val="4B556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275931" y="5719921"/>
            <a:ext cx="9326880" cy="1005840"/>
          </a:xfrm>
          <a:prstGeom prst="roundRect">
            <a:avLst>
              <a:gd name="adj" fmla="val 10909"/>
            </a:avLst>
          </a:prstGeom>
          <a:solidFill>
            <a:srgbClr val="3B1F6E"/>
          </a:solidFill>
          <a:ln w="1524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275931" y="5765641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DDD6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3: Agentic AI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75931" y="6142374"/>
            <a:ext cx="9326880" cy="55321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algn="ctr"/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loops · tool use · MCP · LangGraph · multi-agent (CrewAI) · A2A · browser agents · voice agents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8939371" y="6725761"/>
            <a:ext cx="0" cy="274320"/>
          </a:xfrm>
          <a:prstGeom prst="line">
            <a:avLst/>
          </a:prstGeom>
          <a:noFill/>
          <a:ln w="19050">
            <a:solidFill>
              <a:srgbClr val="4B556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275931" y="7045801"/>
            <a:ext cx="9326880" cy="1005840"/>
          </a:xfrm>
          <a:prstGeom prst="roundRect">
            <a:avLst>
              <a:gd name="adj" fmla="val 10909"/>
            </a:avLst>
          </a:prstGeom>
          <a:solidFill>
            <a:srgbClr val="5C1A1A"/>
          </a:solidFill>
          <a:ln w="1524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275931" y="7091521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FE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4: Production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275931" y="7468254"/>
            <a:ext cx="9326880" cy="55321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algn="ctr"/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 · prompt injection defence · LLMOps / LangSmith · evaluation · FastAPI · Docker · cloud deployment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00813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</TotalTime>
  <Words>866</Words>
  <Application>Microsoft Office PowerPoint</Application>
  <PresentationFormat>Custom</PresentationFormat>
  <Paragraphs>189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anthropic-sans</vt:lpstr>
      <vt:lpstr>Arial</vt:lpstr>
      <vt:lpstr>Calibri</vt:lpstr>
      <vt:lpstr>Calibri Light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Dhyey Manish Rajani</cp:lastModifiedBy>
  <cp:revision>2</cp:revision>
  <dcterms:created xsi:type="dcterms:W3CDTF">2026-08-15T15:54:37Z</dcterms:created>
  <dcterms:modified xsi:type="dcterms:W3CDTF">2026-08-15T16:05:47Z</dcterms:modified>
</cp:coreProperties>
</file>